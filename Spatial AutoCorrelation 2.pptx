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6" r:id="rId3"/>
    <p:sldId id="257" r:id="rId4"/>
    <p:sldId id="258" r:id="rId5"/>
    <p:sldId id="259" r:id="rId6"/>
    <p:sldId id="260" r:id="rId7"/>
    <p:sldId id="261" r:id="rId8"/>
    <p:sldId id="264" r:id="rId9"/>
    <p:sldId id="265" r:id="rId10"/>
    <p:sldId id="266" r:id="rId11"/>
    <p:sldId id="267" r:id="rId12"/>
    <p:sldId id="268" r:id="rId13"/>
    <p:sldId id="269"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19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36" autoAdjust="0"/>
  </p:normalViewPr>
  <p:slideViewPr>
    <p:cSldViewPr>
      <p:cViewPr>
        <p:scale>
          <a:sx n="131" d="100"/>
          <a:sy n="131" d="100"/>
        </p:scale>
        <p:origin x="-58" y="749"/>
      </p:cViewPr>
      <p:guideLst>
        <p:guide orient="horz" pos="2160"/>
        <p:guide pos="2880"/>
      </p:guideLst>
    </p:cSldViewPr>
  </p:slideViewPr>
  <p:outlineViewPr>
    <p:cViewPr>
      <p:scale>
        <a:sx n="33" d="100"/>
        <a:sy n="33" d="100"/>
      </p:scale>
      <p:origin x="53"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7BF7497D-1560-4146-A69C-DD1CE69D87C2}" type="datetimeFigureOut">
              <a:rPr lang="en-US" smtClean="0"/>
              <a:t>6/22/2021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BF7497D-1560-4146-A69C-DD1CE69D87C2}" type="datetimeFigureOut">
              <a:rPr lang="en-US" smtClean="0"/>
              <a:t>6/22/2021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F7497D-1560-4146-A69C-DD1CE69D87C2}" type="datetimeFigureOut">
              <a:rPr lang="en-US" smtClean="0"/>
              <a:t>6/22/2021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7BF7497D-1560-4146-A69C-DD1CE69D87C2}" type="datetimeFigureOut">
              <a:rPr lang="en-US" smtClean="0"/>
              <a:t>6/22/2021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7BF7497D-1560-4146-A69C-DD1CE69D87C2}" type="datetimeFigureOut">
              <a:rPr lang="en-US" smtClean="0"/>
              <a:t>6/22/2021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7BF7497D-1560-4146-A69C-DD1CE69D87C2}" type="datetimeFigureOut">
              <a:rPr lang="en-US" smtClean="0"/>
              <a:t>6/22/2021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F7497D-1560-4146-A69C-DD1CE69D87C2}" type="datetimeFigureOut">
              <a:rPr lang="en-US" smtClean="0"/>
              <a:t>6/22/2021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F7497D-1560-4146-A69C-DD1CE69D87C2}" type="datetimeFigureOut">
              <a:rPr lang="en-US" smtClean="0"/>
              <a:t>6/22/2021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F7497D-1560-4146-A69C-DD1CE69D87C2}" type="datetimeFigureOut">
              <a:rPr lang="en-US" smtClean="0"/>
              <a:t>6/22/2021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BF7497D-1560-4146-A69C-DD1CE69D87C2}" type="datetimeFigureOut">
              <a:rPr lang="en-US" smtClean="0"/>
              <a:t>6/22/2021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BF7497D-1560-4146-A69C-DD1CE69D87C2}" type="datetimeFigureOut">
              <a:rPr lang="en-US" smtClean="0"/>
              <a:t>6/22/2021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73FF159-A464-4B70-A117-9B1CCBC26F4A}"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F7497D-1560-4146-A69C-DD1CE69D87C2}" type="datetimeFigureOut">
              <a:rPr lang="en-US" smtClean="0"/>
              <a:t>6/22/2021</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3FF159-A464-4B70-A117-9B1CCBC26F4A}"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Spatial </a:t>
            </a:r>
            <a:r>
              <a:rPr lang="en-US" b="1" dirty="0" err="1"/>
              <a:t>AutoCorrelation</a:t>
            </a:r>
            <a:endParaRPr lang="en-US" dirty="0"/>
          </a:p>
        </p:txBody>
      </p:sp>
      <p:sp>
        <p:nvSpPr>
          <p:cNvPr id="3" name="Content Placeholder 2"/>
          <p:cNvSpPr>
            <a:spLocks noGrp="1"/>
          </p:cNvSpPr>
          <p:nvPr>
            <p:ph idx="1"/>
          </p:nvPr>
        </p:nvSpPr>
        <p:spPr/>
        <p:txBody>
          <a:bodyPr/>
          <a:lstStyle/>
          <a:p>
            <a:pPr algn="ctr"/>
            <a:endParaRPr lang="en-US" dirty="0" smtClean="0"/>
          </a:p>
          <a:p>
            <a:pPr algn="ctr"/>
            <a:endParaRPr lang="en-US" dirty="0"/>
          </a:p>
          <a:p>
            <a:pPr marL="0" indent="0" algn="ctr">
              <a:buNone/>
            </a:pPr>
            <a:r>
              <a:rPr lang="en-US" dirty="0" smtClean="0"/>
              <a:t>Faith </a:t>
            </a:r>
            <a:r>
              <a:rPr lang="en-US" dirty="0"/>
              <a:t>Felicity </a:t>
            </a:r>
            <a:r>
              <a:rPr lang="en-US" dirty="0" err="1" smtClean="0"/>
              <a:t>Sadiq</a:t>
            </a:r>
            <a:endParaRPr lang="en-US" dirty="0" smtClean="0"/>
          </a:p>
          <a:p>
            <a:pPr marL="0" indent="0" algn="ctr">
              <a:buNone/>
            </a:pPr>
            <a:r>
              <a:rPr lang="en-US" dirty="0" err="1" smtClean="0"/>
              <a:t>Akinyosoye</a:t>
            </a:r>
            <a:r>
              <a:rPr lang="en-US" dirty="0" smtClean="0"/>
              <a:t> </a:t>
            </a:r>
            <a:r>
              <a:rPr lang="en-US" dirty="0" err="1" smtClean="0"/>
              <a:t>Olufemi</a:t>
            </a:r>
            <a:endParaRPr lang="en-US" dirty="0" smtClean="0"/>
          </a:p>
          <a:p>
            <a:endParaRPr lang="en-US" dirty="0"/>
          </a:p>
        </p:txBody>
      </p:sp>
    </p:spTree>
    <p:extLst>
      <p:ext uri="{BB962C8B-B14F-4D97-AF65-F5344CB8AC3E}">
        <p14:creationId xmlns:p14="http://schemas.microsoft.com/office/powerpoint/2010/main" val="3807453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b="1" dirty="0"/>
              <a:t>Spatial </a:t>
            </a:r>
            <a:r>
              <a:rPr lang="en-US" b="1" dirty="0" err="1"/>
              <a:t>AutoCorrelation</a:t>
            </a:r>
            <a:r>
              <a:rPr lang="en-GB" dirty="0"/>
              <a:t/>
            </a:r>
            <a:br>
              <a:rPr lang="en-GB" dirty="0"/>
            </a:br>
            <a:endParaRPr lang="en-GB" dirty="0"/>
          </a:p>
        </p:txBody>
      </p:sp>
      <p:sp>
        <p:nvSpPr>
          <p:cNvPr id="8" name="Content Placeholder 7"/>
          <p:cNvSpPr>
            <a:spLocks noGrp="1"/>
          </p:cNvSpPr>
          <p:nvPr>
            <p:ph idx="1"/>
          </p:nvPr>
        </p:nvSpPr>
        <p:spPr/>
        <p:txBody>
          <a:bodyPr>
            <a:normAutofit fontScale="92500"/>
          </a:bodyPr>
          <a:lstStyle/>
          <a:p>
            <a:r>
              <a:rPr lang="en-US" dirty="0"/>
              <a:t>Geo-spatial autocorrelation refers to the degree to which one object is similar to other nearby objects. “Auto” means self and “correlation” means association. In layman terms, it measures how close objects are similar to other close objects.</a:t>
            </a:r>
            <a:endParaRPr lang="en-GB" dirty="0"/>
          </a:p>
          <a:p>
            <a:r>
              <a:rPr lang="en-US" dirty="0"/>
              <a:t>The first rule of GIS: Everything is related to everything else. But near things are more related than distant things (Waldo R. </a:t>
            </a:r>
            <a:r>
              <a:rPr lang="en-US" dirty="0" err="1"/>
              <a:t>Tobler</a:t>
            </a:r>
            <a:r>
              <a:rPr lang="en-US" dirty="0"/>
              <a:t> , 1970)</a:t>
            </a:r>
            <a:endParaRPr lang="en-GB" dirty="0"/>
          </a:p>
          <a:p>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28"/>
            <a:ext cx="8229600" cy="1131910"/>
          </a:xfrm>
        </p:spPr>
        <p:txBody>
          <a:bodyPr>
            <a:normAutofit fontScale="90000"/>
          </a:bodyPr>
          <a:lstStyle/>
          <a:p>
            <a:r>
              <a:rPr lang="en-US" dirty="0"/>
              <a:t>Technical Definition</a:t>
            </a:r>
            <a:r>
              <a:rPr lang="en-GB" dirty="0"/>
              <a:t/>
            </a:r>
            <a:br>
              <a:rPr lang="en-GB" dirty="0"/>
            </a:br>
            <a:endParaRPr lang="en-GB" dirty="0"/>
          </a:p>
        </p:txBody>
      </p:sp>
      <p:sp>
        <p:nvSpPr>
          <p:cNvPr id="3" name="Content Placeholder 2"/>
          <p:cNvSpPr>
            <a:spLocks noGrp="1"/>
          </p:cNvSpPr>
          <p:nvPr>
            <p:ph idx="1"/>
          </p:nvPr>
        </p:nvSpPr>
        <p:spPr/>
        <p:txBody>
          <a:bodyPr>
            <a:normAutofit fontScale="55000" lnSpcReduction="20000"/>
          </a:bodyPr>
          <a:lstStyle/>
          <a:p>
            <a:r>
              <a:rPr lang="en-US" dirty="0"/>
              <a:t>Technically, spatial auto-correlation refers to the measure of association between observation of variables that are close to each other at a spatial scale. The variable could be:</a:t>
            </a:r>
            <a:endParaRPr lang="en-GB" dirty="0"/>
          </a:p>
          <a:p>
            <a:r>
              <a:rPr lang="en-US" dirty="0"/>
              <a:t>1. at any point on a continuous surface (such as land-use type or annual precipitation level in a region)</a:t>
            </a:r>
            <a:endParaRPr lang="en-GB" dirty="0"/>
          </a:p>
          <a:p>
            <a:r>
              <a:rPr lang="en-US" dirty="0"/>
              <a:t>2. at a set of fixed sites in a particular region (such as a set of retail outlets)</a:t>
            </a:r>
            <a:endParaRPr lang="en-GB" dirty="0"/>
          </a:p>
          <a:p>
            <a:r>
              <a:rPr lang="en-US" dirty="0"/>
              <a:t>3. across a set of areas that subdivide a region (such as count or proportion of the household which have two or more cars in a Census data that divide an urban region).</a:t>
            </a:r>
            <a:endParaRPr lang="en-GB" dirty="0"/>
          </a:p>
          <a:p>
            <a:r>
              <a:rPr lang="en-US" dirty="0"/>
              <a:t>Autocorrelation violates the core principles of statistics, that is, observations are independent of each other. As per assumptions of independence in classical statistics, observations between groups and observation within groups should be independent. Hence, spatial autocorrelation clearly violates the above-mentioned assumptions.</a:t>
            </a:r>
            <a:endParaRPr lang="en-GB" dirty="0"/>
          </a:p>
          <a:p>
            <a:r>
              <a:rPr lang="en-US" dirty="0"/>
              <a:t>The concept of spatial correlation is a kind of extension of temporal correlation. The only difference being that temporal correlation measures the change of a variable over time while spatial correlation measures the change of two variables — observation (values like income, rainfall, etc) and location.</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Types of Spatial Correlation</a:t>
            </a:r>
            <a:r>
              <a:rPr lang="en-GB" dirty="0"/>
              <a:t/>
            </a:r>
            <a:br>
              <a:rPr lang="en-GB" dirty="0"/>
            </a:br>
            <a:endParaRPr lang="en-GB" dirty="0"/>
          </a:p>
        </p:txBody>
      </p:sp>
      <p:sp>
        <p:nvSpPr>
          <p:cNvPr id="3" name="Content Placeholder 2"/>
          <p:cNvSpPr>
            <a:spLocks noGrp="1"/>
          </p:cNvSpPr>
          <p:nvPr>
            <p:ph idx="1"/>
          </p:nvPr>
        </p:nvSpPr>
        <p:spPr/>
        <p:txBody>
          <a:bodyPr>
            <a:normAutofit fontScale="77500" lnSpcReduction="20000"/>
          </a:bodyPr>
          <a:lstStyle/>
          <a:p>
            <a:r>
              <a:rPr lang="en-US" dirty="0"/>
              <a:t>The most common forms of spatial correlation across geospatial space are patches and gradients.</a:t>
            </a:r>
            <a:endParaRPr lang="en-GB" dirty="0"/>
          </a:p>
          <a:p>
            <a:r>
              <a:rPr lang="en-US" dirty="0"/>
              <a:t>Spatial correlation in a variable can be exogenous (caused by another spatially auto-correlated variable like rainfall) or endogenous (caused by some process at play like the spread of a disease).</a:t>
            </a:r>
            <a:endParaRPr lang="en-GB" dirty="0"/>
          </a:p>
          <a:p>
            <a:pPr marL="0" indent="0">
              <a:buNone/>
            </a:pPr>
            <a:endParaRPr lang="en-GB" dirty="0"/>
          </a:p>
          <a:p>
            <a:r>
              <a:rPr lang="en-US" dirty="0"/>
              <a:t>Applications of Spatial Correlation</a:t>
            </a:r>
            <a:endParaRPr lang="en-GB" dirty="0"/>
          </a:p>
          <a:p>
            <a:r>
              <a:rPr lang="en-US" dirty="0"/>
              <a:t>The importance of spatial autocorrelation is that it helps to define how important spatial characteristic is in affecting a given object in space and if there is a clear relationship of objects with spatial properties. Here are some of the interesting industrial use cases of spatial autocorrelation:</a:t>
            </a:r>
            <a:endParaRPr lang="en-GB" dirty="0"/>
          </a:p>
          <a:p>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28670"/>
            <a:ext cx="8229600" cy="5197493"/>
          </a:xfrm>
        </p:spPr>
        <p:txBody>
          <a:bodyPr>
            <a:normAutofit fontScale="62500" lnSpcReduction="20000"/>
          </a:bodyPr>
          <a:lstStyle/>
          <a:p>
            <a:r>
              <a:rPr lang="en-US" dirty="0"/>
              <a:t>Measure of Inequality: Spatial autocorrelation helps find out the measure of inequality and diversity be it in terms of income, population or race. It analyzes whether the parameters like income, population are clustered or uniformly distributed in a certain region using Moran’s I coefficient. [Source]</a:t>
            </a:r>
            <a:endParaRPr lang="en-GB" dirty="0"/>
          </a:p>
          <a:p>
            <a:r>
              <a:rPr lang="en-US" dirty="0"/>
              <a:t>Environment: Spatial autocorrelation helps to spot contamination hotspots of rare earth elements in urban soils.</a:t>
            </a:r>
            <a:endParaRPr lang="en-GB" dirty="0"/>
          </a:p>
          <a:p>
            <a:r>
              <a:rPr lang="en-US" dirty="0"/>
              <a:t>Points of Interest: Autocorrelation is used to map different parameters as a function of distance for variables of interest. For example, how far away from the city center do the house prices actually start decreasing</a:t>
            </a:r>
            <a:endParaRPr lang="en-GB" dirty="0"/>
          </a:p>
          <a:p>
            <a:r>
              <a:rPr lang="en-US" dirty="0"/>
              <a:t>Ecology: Spatial autocorrelation is used widely in the ocean and coral reef ecosystem for important applications like site suitability analysis to pinpoint areas for mussel long line farm or marine aquaculture planning.</a:t>
            </a:r>
            <a:endParaRPr lang="en-GB" dirty="0"/>
          </a:p>
          <a:p>
            <a:r>
              <a:rPr lang="en-US" dirty="0"/>
              <a:t>Demographics: Spatial autocorrelation is used to map and analyze voter turnout during elections For example, spatial autocorrelation was used to map absenteeism during the French Presidential election and French Regional election.</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8143932" cy="1214446"/>
          </a:xfrm>
        </p:spPr>
        <p:txBody>
          <a:bodyPr>
            <a:normAutofit fontScale="90000"/>
          </a:bodyPr>
          <a:lstStyle/>
          <a:p>
            <a:r>
              <a:rPr lang="en-US" dirty="0"/>
              <a:t>Case Study: Migration Analysis of the Italian Population</a:t>
            </a:r>
            <a:r>
              <a:rPr lang="en-GB" dirty="0"/>
              <a:t/>
            </a:r>
            <a:br>
              <a:rPr lang="en-GB" dirty="0"/>
            </a:br>
            <a:endParaRPr lang="en-GB" dirty="0"/>
          </a:p>
        </p:txBody>
      </p:sp>
      <p:sp>
        <p:nvSpPr>
          <p:cNvPr id="3" name="Content Placeholder 2"/>
          <p:cNvSpPr>
            <a:spLocks noGrp="1"/>
          </p:cNvSpPr>
          <p:nvPr>
            <p:ph idx="1"/>
          </p:nvPr>
        </p:nvSpPr>
        <p:spPr/>
        <p:txBody>
          <a:bodyPr>
            <a:normAutofit fontScale="62500" lnSpcReduction="20000"/>
          </a:bodyPr>
          <a:lstStyle/>
          <a:p>
            <a:r>
              <a:rPr lang="en-US" dirty="0"/>
              <a:t>Autocorrelation has a large influence is migration analysis. This study is a reproduction of the paper here. The case here takes into consideration the analysis of the migration of the foreign population in Italy.</a:t>
            </a:r>
            <a:endParaRPr lang="en-GB" dirty="0"/>
          </a:p>
          <a:p>
            <a:r>
              <a:rPr lang="en-US" dirty="0"/>
              <a:t>Migration is a key factor in population dynamics evolutions at different scales, with implications in economy, culture, and environment. Using spatial autocorrelation, we identify spatial clusters representative of the concentration of migrants.</a:t>
            </a:r>
            <a:endParaRPr lang="en-GB" dirty="0"/>
          </a:p>
          <a:p>
            <a:r>
              <a:rPr lang="en-US" dirty="0"/>
              <a:t>Technically, the Moran I coefficient’s here represents the difference between the weighted variance of the ratio of the foreign and local resident population and the generalized variance. In layman terms, it expresses the correlation between the ratio of foreign/population in a given place and the ratio of foreign/population in the neighboring spatial unit.</a:t>
            </a:r>
            <a:endParaRPr lang="en-GB" dirty="0"/>
          </a:p>
          <a:p>
            <a:r>
              <a:rPr lang="en-US" dirty="0"/>
              <a:t>Using a correlation index LISA (Local Indicator of Spatial Association), we segregated the scenarios into five kinds :</a:t>
            </a: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fontScale="77500" lnSpcReduction="20000"/>
          </a:bodyPr>
          <a:lstStyle/>
          <a:p>
            <a:r>
              <a:rPr lang="en-US" dirty="0"/>
              <a:t>1. Locations with high values of the phenomenon and high level of similarity with its surroundings (high-high) defined as hot-spots</a:t>
            </a:r>
            <a:endParaRPr lang="en-GB" dirty="0"/>
          </a:p>
          <a:p>
            <a:r>
              <a:rPr lang="en-US" dirty="0"/>
              <a:t>2. Locations with low values of the phenomenon and low levels of similarity with its surroundings (low-low) defined as cold-spots.</a:t>
            </a:r>
            <a:endParaRPr lang="en-GB" dirty="0"/>
          </a:p>
          <a:p>
            <a:r>
              <a:rPr lang="en-US" dirty="0"/>
              <a:t>3. Locations with high values of the phenomenon and low levels of similarity or vice-versa. These are known as spatial outliers. Spatial Autocorrelation</a:t>
            </a:r>
            <a:endParaRPr lang="en-GB" dirty="0"/>
          </a:p>
          <a:p>
            <a:endParaRPr lang="en-GB" dirty="0"/>
          </a:p>
        </p:txBody>
      </p:sp>
      <p:sp>
        <p:nvSpPr>
          <p:cNvPr id="5" name="Content Placeholder 4"/>
          <p:cNvSpPr>
            <a:spLocks noGrp="1"/>
          </p:cNvSpPr>
          <p:nvPr>
            <p:ph sz="half" idx="2"/>
          </p:nvPr>
        </p:nvSpPr>
        <p:spPr>
          <a:xfrm>
            <a:off x="4357686" y="285728"/>
            <a:ext cx="4329114" cy="6215106"/>
          </a:xfrm>
        </p:spPr>
        <p:txBody>
          <a:bodyPr>
            <a:normAutofit fontScale="77500" lnSpcReduction="20000"/>
          </a:bodyPr>
          <a:lstStyle/>
          <a:p>
            <a:endParaRPr lang="en-GB" dirty="0"/>
          </a:p>
        </p:txBody>
      </p:sp>
      <p:pic>
        <p:nvPicPr>
          <p:cNvPr id="14338" name="Picture 2"/>
          <p:cNvPicPr preferRelativeResize="0">
            <a:picLocks noChangeAspect="1" noChangeArrowheads="1"/>
          </p:cNvPicPr>
          <p:nvPr/>
        </p:nvPicPr>
        <p:blipFill>
          <a:blip r:embed="rId2"/>
          <a:srcRect/>
          <a:stretch>
            <a:fillRect/>
          </a:stretch>
        </p:blipFill>
        <p:spPr bwMode="auto">
          <a:xfrm>
            <a:off x="4357686" y="285728"/>
            <a:ext cx="4357718" cy="639132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Positive Spatial Autocorrelation Example</a:t>
            </a:r>
            <a:r>
              <a:rPr lang="en-GB" dirty="0"/>
              <a:t/>
            </a:r>
            <a:br>
              <a:rPr lang="en-GB" dirty="0"/>
            </a:br>
            <a:endParaRPr lang="en-GB" dirty="0"/>
          </a:p>
        </p:txBody>
      </p:sp>
      <p:sp>
        <p:nvSpPr>
          <p:cNvPr id="3" name="Content Placeholder 2"/>
          <p:cNvSpPr>
            <a:spLocks noGrp="1"/>
          </p:cNvSpPr>
          <p:nvPr>
            <p:ph sz="half" idx="1"/>
          </p:nvPr>
        </p:nvSpPr>
        <p:spPr/>
        <p:txBody>
          <a:bodyPr>
            <a:normAutofit lnSpcReduction="10000"/>
          </a:bodyPr>
          <a:lstStyle/>
          <a:p>
            <a:r>
              <a:rPr lang="en-US" dirty="0"/>
              <a:t>Positive spatial autocorrelation occurs when Moran’s I is close to +1. This means values cluster together. For example, elevation datasets have similar elevation values close to each other.</a:t>
            </a:r>
            <a:endParaRPr lang="en-GB" dirty="0"/>
          </a:p>
          <a:p>
            <a:r>
              <a:rPr lang="en-US" dirty="0"/>
              <a:t>Clustered Image Spatial Autocorrelation</a:t>
            </a:r>
            <a:endParaRPr lang="en-GB" dirty="0"/>
          </a:p>
          <a:p>
            <a:endParaRPr lang="en-GB" dirty="0"/>
          </a:p>
        </p:txBody>
      </p:sp>
      <p:sp>
        <p:nvSpPr>
          <p:cNvPr id="4" name="Content Placeholder 3"/>
          <p:cNvSpPr>
            <a:spLocks noGrp="1"/>
          </p:cNvSpPr>
          <p:nvPr>
            <p:ph sz="half" idx="2"/>
          </p:nvPr>
        </p:nvSpPr>
        <p:spPr/>
        <p:txBody>
          <a:bodyPr>
            <a:normAutofit lnSpcReduction="10000"/>
          </a:bodyPr>
          <a:lstStyle/>
          <a:p>
            <a:endParaRPr lang="en-GB" dirty="0"/>
          </a:p>
        </p:txBody>
      </p:sp>
      <p:pic>
        <p:nvPicPr>
          <p:cNvPr id="20482" name="Picture 2"/>
          <p:cNvPicPr preferRelativeResize="0">
            <a:picLocks noChangeAspect="1" noChangeArrowheads="1"/>
          </p:cNvPicPr>
          <p:nvPr/>
        </p:nvPicPr>
        <p:blipFill>
          <a:blip r:embed="rId2"/>
          <a:srcRect/>
          <a:stretch>
            <a:fillRect/>
          </a:stretch>
        </p:blipFill>
        <p:spPr bwMode="auto">
          <a:xfrm>
            <a:off x="4214810" y="428604"/>
            <a:ext cx="4071965" cy="5286412"/>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dirty="0"/>
              <a:t>Clustered Image Spatial Autocorrelation</a:t>
            </a:r>
            <a:r>
              <a:rPr lang="en-GB" dirty="0"/>
              <a:t/>
            </a:r>
            <a:br>
              <a:rPr lang="en-GB" dirty="0"/>
            </a:br>
            <a:endParaRPr lang="en-GB" dirty="0"/>
          </a:p>
        </p:txBody>
      </p:sp>
      <p:sp>
        <p:nvSpPr>
          <p:cNvPr id="7" name="Content Placeholder 6"/>
          <p:cNvSpPr>
            <a:spLocks noGrp="1"/>
          </p:cNvSpPr>
          <p:nvPr>
            <p:ph idx="1"/>
          </p:nvPr>
        </p:nvSpPr>
        <p:spPr/>
        <p:txBody>
          <a:bodyPr/>
          <a:lstStyle/>
          <a:p>
            <a:r>
              <a:rPr lang="en-US" dirty="0"/>
              <a:t>There is clustering in the land cover image above. This clustered pattern generates a Moran’s I of 0.60. The z-score of 4.95 indicates there is a less than 1% likelihood that this clustered pattern could be the result of a random choice.</a:t>
            </a:r>
            <a:endParaRPr lang="en-GB" dirty="0"/>
          </a:p>
          <a:p>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Negative Spatial Autocorrelation Example</a:t>
            </a:r>
            <a:r>
              <a:rPr lang="en-GB" dirty="0"/>
              <a:t/>
            </a:r>
            <a:br>
              <a:rPr lang="en-GB" dirty="0"/>
            </a:br>
            <a:endParaRPr lang="en-GB" dirty="0"/>
          </a:p>
        </p:txBody>
      </p:sp>
      <p:sp>
        <p:nvSpPr>
          <p:cNvPr id="3" name="Content Placeholder 2"/>
          <p:cNvSpPr>
            <a:spLocks noGrp="1"/>
          </p:cNvSpPr>
          <p:nvPr>
            <p:ph sz="half" idx="1"/>
          </p:nvPr>
        </p:nvSpPr>
        <p:spPr/>
        <p:txBody>
          <a:bodyPr>
            <a:normAutofit lnSpcReduction="10000"/>
          </a:bodyPr>
          <a:lstStyle/>
          <a:p>
            <a:r>
              <a:rPr lang="en-US" dirty="0"/>
              <a:t>Negative spatial auto-correlation occurs when Moran’s I is near -1. A checkerboard is an example where Moran’s I is -1 because dissimilar values are next to each other. A value of 0 for Moran’s I typically indicates no autocorrelation.</a:t>
            </a:r>
            <a:endParaRPr lang="en-GB" dirty="0"/>
          </a:p>
          <a:p>
            <a:endParaRPr lang="en-GB" dirty="0"/>
          </a:p>
        </p:txBody>
      </p:sp>
      <p:sp>
        <p:nvSpPr>
          <p:cNvPr id="4" name="Content Placeholder 3"/>
          <p:cNvSpPr>
            <a:spLocks noGrp="1"/>
          </p:cNvSpPr>
          <p:nvPr>
            <p:ph sz="half" idx="2"/>
          </p:nvPr>
        </p:nvSpPr>
        <p:spPr/>
        <p:txBody>
          <a:bodyPr>
            <a:normAutofit lnSpcReduction="10000"/>
          </a:bodyPr>
          <a:lstStyle/>
          <a:p>
            <a:endParaRPr lang="en-GB" dirty="0"/>
          </a:p>
        </p:txBody>
      </p:sp>
      <p:pic>
        <p:nvPicPr>
          <p:cNvPr id="23554" name="Picture 2"/>
          <p:cNvPicPr preferRelativeResize="0">
            <a:picLocks noChangeAspect="1" noChangeArrowheads="1"/>
          </p:cNvPicPr>
          <p:nvPr/>
        </p:nvPicPr>
        <p:blipFill>
          <a:blip r:embed="rId2"/>
          <a:srcRect/>
          <a:stretch>
            <a:fillRect/>
          </a:stretch>
        </p:blipFill>
        <p:spPr bwMode="auto">
          <a:xfrm>
            <a:off x="4643438" y="1571612"/>
            <a:ext cx="4071966" cy="457203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normAutofit fontScale="77500" lnSpcReduction="20000"/>
          </a:bodyPr>
          <a:lstStyle/>
          <a:p>
            <a:r>
              <a:rPr lang="en-US" dirty="0" err="1"/>
              <a:t>Checkboard</a:t>
            </a:r>
            <a:r>
              <a:rPr lang="en-US" dirty="0"/>
              <a:t> Pattern: Spatial Autocorrelation</a:t>
            </a:r>
            <a:endParaRPr lang="en-GB" dirty="0"/>
          </a:p>
          <a:p>
            <a:r>
              <a:rPr lang="en-US" dirty="0"/>
              <a:t>Checkerboard Pattern: Spatial Autocorrelation</a:t>
            </a:r>
            <a:endParaRPr lang="en-GB" dirty="0"/>
          </a:p>
          <a:p>
            <a:r>
              <a:rPr lang="en-US" dirty="0"/>
              <a:t>Using the spatial autocorrelation tool in </a:t>
            </a:r>
            <a:r>
              <a:rPr lang="en-US" dirty="0" err="1"/>
              <a:t>ArcGIS</a:t>
            </a:r>
            <a:r>
              <a:rPr lang="en-US" dirty="0"/>
              <a:t>, the checkerboard pattern generates a Moran’s index of -1.00 with a z-score of -7.59.</a:t>
            </a:r>
            <a:endParaRPr lang="en-GB" dirty="0"/>
          </a:p>
          <a:p>
            <a:pPr>
              <a:buNone/>
            </a:pPr>
            <a:endParaRPr lang="en-GB" dirty="0"/>
          </a:p>
          <a:p>
            <a:r>
              <a:rPr lang="en-US" dirty="0"/>
              <a:t>(Remember that the z-score indicates the statistical significance given the number of features in the dataset).</a:t>
            </a:r>
            <a:endParaRPr lang="en-GB" dirty="0"/>
          </a:p>
          <a:p>
            <a:pPr>
              <a:buNone/>
            </a:pPr>
            <a:endParaRPr lang="en-GB" dirty="0"/>
          </a:p>
          <a:p>
            <a:r>
              <a:rPr lang="en-US" dirty="0"/>
              <a:t>This checkerboard pattern has a less than 1% likelihood that it is the result of a random choice. If you want to test this statistical technique, try </a:t>
            </a:r>
            <a:r>
              <a:rPr lang="en-US" dirty="0" err="1"/>
              <a:t>GeoDa</a:t>
            </a:r>
            <a:r>
              <a:rPr lang="en-US" dirty="0"/>
              <a:t> software for this and more.</a:t>
            </a:r>
            <a:endParaRPr lang="en-GB" dirty="0"/>
          </a:p>
          <a:p>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What’s Next?</a:t>
            </a:r>
            <a:r>
              <a:rPr lang="en-GB" dirty="0"/>
              <a:t/>
            </a:r>
            <a:br>
              <a:rPr lang="en-GB" dirty="0"/>
            </a:br>
            <a:endParaRPr lang="en-GB" dirty="0"/>
          </a:p>
        </p:txBody>
      </p:sp>
      <p:sp>
        <p:nvSpPr>
          <p:cNvPr id="3" name="Content Placeholder 2"/>
          <p:cNvSpPr>
            <a:spLocks noGrp="1"/>
          </p:cNvSpPr>
          <p:nvPr>
            <p:ph idx="1"/>
          </p:nvPr>
        </p:nvSpPr>
        <p:spPr/>
        <p:txBody>
          <a:bodyPr/>
          <a:lstStyle/>
          <a:p>
            <a:r>
              <a:rPr lang="en-US" dirty="0"/>
              <a:t>Spatial autocorrelation indicates if there is clustering or dispersion in a map. While a positive Moran’s I hints at data is clustered, a negative Moran’s I implies data is dispersed.</a:t>
            </a:r>
            <a:endParaRPr lang="en-GB" dirty="0"/>
          </a:p>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ctr">
              <a:buNone/>
            </a:pPr>
            <a:endParaRPr lang="en-GB" dirty="0"/>
          </a:p>
          <a:p>
            <a:pPr algn="ctr">
              <a:buNone/>
            </a:pPr>
            <a:endParaRPr lang="en-GB" dirty="0"/>
          </a:p>
          <a:p>
            <a:pPr algn="ctr">
              <a:buNone/>
            </a:pPr>
            <a:r>
              <a:rPr lang="en-GB" sz="7200" dirty="0"/>
              <a:t>THANKS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1076</Words>
  <Application>Microsoft Office PowerPoint</Application>
  <PresentationFormat>On-screen Show (4:3)</PresentationFormat>
  <Paragraphs>53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Spatial AutoCorrelation</vt:lpstr>
      <vt:lpstr>Spatial AutoCorrelation </vt:lpstr>
      <vt:lpstr>Technical Definition </vt:lpstr>
      <vt:lpstr>Types of Spatial Correlation </vt:lpstr>
      <vt:lpstr>PowerPoint Presentation</vt:lpstr>
      <vt:lpstr>Case Study: Migration Analysis of the Italian Population </vt:lpstr>
      <vt:lpstr>PowerPoint Presentation</vt:lpstr>
      <vt:lpstr>Positive Spatial Autocorrelation Example </vt:lpstr>
      <vt:lpstr>Clustered Image Spatial Autocorrelation </vt:lpstr>
      <vt:lpstr>Negative Spatial Autocorrelation Example </vt:lpstr>
      <vt:lpstr>PowerPoint Presentation</vt:lpstr>
      <vt:lpstr>What’s Next? </vt:lpstr>
      <vt:lpstr>PowerPoint Presentation</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AutoCorrelation</dc:title>
  <dc:creator>user1</dc:creator>
  <cp:lastModifiedBy>Phemzy</cp:lastModifiedBy>
  <cp:revision>12</cp:revision>
  <dcterms:created xsi:type="dcterms:W3CDTF">2021-06-15T21:30:25Z</dcterms:created>
  <dcterms:modified xsi:type="dcterms:W3CDTF">2021-06-22T09:54:12Z</dcterms:modified>
</cp:coreProperties>
</file>